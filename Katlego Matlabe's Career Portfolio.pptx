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8" d="100"/>
          <a:sy n="58" d="100"/>
        </p:scale>
        <p:origin x="3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8F-B4EE-4C16-AF96-C3EF3B76B9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C4BC-4B57-4ABF-8953-6CF505395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27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8F-B4EE-4C16-AF96-C3EF3B76B9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C4BC-4B57-4ABF-8953-6CF505395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06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8F-B4EE-4C16-AF96-C3EF3B76B9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C4BC-4B57-4ABF-8953-6CF505395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17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8F-B4EE-4C16-AF96-C3EF3B76B9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C4BC-4B57-4ABF-8953-6CF505395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77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8F-B4EE-4C16-AF96-C3EF3B76B9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C4BC-4B57-4ABF-8953-6CF505395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56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8F-B4EE-4C16-AF96-C3EF3B76B9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C4BC-4B57-4ABF-8953-6CF505395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77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8F-B4EE-4C16-AF96-C3EF3B76B9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C4BC-4B57-4ABF-8953-6CF505395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72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8F-B4EE-4C16-AF96-C3EF3B76B9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C4BC-4B57-4ABF-8953-6CF505395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2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8F-B4EE-4C16-AF96-C3EF3B76B9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C4BC-4B57-4ABF-8953-6CF505395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38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8F-B4EE-4C16-AF96-C3EF3B76B9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C4BC-4B57-4ABF-8953-6CF505395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62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1338F-B4EE-4C16-AF96-C3EF3B76B9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2C4BC-4B57-4ABF-8953-6CF505395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58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1338F-B4EE-4C16-AF96-C3EF3B76B9D8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2C4BC-4B57-4ABF-8953-6CF5053953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755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62298" y="1762298"/>
            <a:ext cx="8905702" cy="1481657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Title: High-Volume Client Retention Strategy</a:t>
            </a:r>
            <a:endParaRPr lang="en-US" sz="4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6363"/>
            <a:ext cx="9144000" cy="931026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Case Study in Operational Autonomy &amp; Account Management Name: </a:t>
            </a:r>
            <a:r>
              <a:rPr lang="en-US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Katlego</a:t>
            </a:r>
            <a:r>
              <a:rPr lang="en-US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Matlabe</a:t>
            </a:r>
            <a:r>
              <a:rPr lang="en-US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Date: 2019-2024</a:t>
            </a:r>
            <a:endParaRPr lang="en-US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36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203031" y="2077202"/>
            <a:ext cx="9033856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Title: Managing a Global Portfolio of </a:t>
            </a:r>
            <a:r>
              <a:rPr lang="en-US" sz="40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5,600+</a:t>
            </a:r>
            <a:r>
              <a:rPr lang="en-US" sz="32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Accounts Contents: </a:t>
            </a:r>
            <a:endParaRPr lang="en-US" sz="4800" b="1" dirty="0" smtClean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4800" b="1" dirty="0" smtClean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Challenge: </a:t>
            </a:r>
            <a:r>
              <a:rPr lang="en-US" sz="24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Managing a high-velocity client base across multiple time zones with zero direct supervision.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Objective</a:t>
            </a:r>
            <a:r>
              <a:rPr lang="en-US" sz="24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Maximize session volume while maintaining a &gt;</a:t>
            </a:r>
            <a:r>
              <a:rPr 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4.8/5</a:t>
            </a:r>
            <a:r>
              <a:rPr lang="en-US" sz="24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satisfaction rating and minimizing churn.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r>
              <a:rPr 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Environment: 100% </a:t>
            </a:r>
            <a:r>
              <a:rPr lang="en-US" sz="24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Remote, Independent Contractor model requiring self-managed scheduling, technical troubleshooting, and conflict resolution.</a:t>
            </a: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indent="-685800">
              <a:buFont typeface="Wingdings" panose="05000000000000000000" pitchFamily="2" charset="2"/>
              <a:buChar char="§"/>
            </a:pPr>
            <a:endParaRPr 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363638" y="1242053"/>
            <a:ext cx="540013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Scope</a:t>
            </a:r>
            <a:endParaRPr lang="en-US" sz="36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94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6491" y="1750513"/>
            <a:ext cx="933378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r>
              <a:rPr lang="en-US" sz="28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The "Trusted Advisor" Framework Content: To manage 11,000+ sessions effectively, I implemented a three-pillar success strategy</a:t>
            </a:r>
            <a:r>
              <a:rPr lang="en-US" sz="2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sz="2400" dirty="0" smtClean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Onboarding</a:t>
            </a:r>
            <a:r>
              <a:rPr lang="en-US" sz="24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Established rapport within the first 60 seconds to reduce "early-stage drop-off.“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Customized Success Plans</a:t>
            </a:r>
            <a:r>
              <a:rPr lang="en-US" sz="24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Moved clients from ad-hoc sessions to structured development plans, increasing Customer Lifetime Value (CLV).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Cultural Adaptability</a:t>
            </a:r>
            <a:r>
              <a:rPr lang="en-US" sz="24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Adjusted communication styles for clients across Asia, Middle East, North Africa, Europe, and South America to ensure clarity and comfort.</a:t>
            </a:r>
            <a:endParaRPr lang="en-US" sz="2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25283" y="1104182"/>
            <a:ext cx="755673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Methodology</a:t>
            </a:r>
            <a:endParaRPr lang="en-US" sz="36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9058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8183" y="1414732"/>
            <a:ext cx="841247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 smtClean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Title: Performance at Scale (2019–2024) Content:</a:t>
            </a:r>
            <a:endParaRPr lang="en-US" sz="2800" dirty="0" smtClean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b="1" dirty="0" smtClean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Unique Accounts Managed: </a:t>
            </a:r>
            <a:r>
              <a:rPr 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5,619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Sessions Completed: </a:t>
            </a:r>
            <a:r>
              <a:rPr 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11,263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Service Hours: </a:t>
            </a:r>
            <a:r>
              <a:rPr 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~5,289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Reliability Rate: </a:t>
            </a:r>
            <a:r>
              <a:rPr 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99.9% </a:t>
            </a:r>
            <a:r>
              <a:rPr lang="en-US" sz="24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attendance on scheduled bookings.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Transcription Accuracy (Rev.com): </a:t>
            </a:r>
            <a:r>
              <a:rPr 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98%</a:t>
            </a:r>
            <a:r>
              <a:rPr 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(Verifiable metric of attention to detail).</a:t>
            </a:r>
          </a:p>
          <a:p>
            <a:endParaRPr lang="en-US" sz="24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18183" y="1069675"/>
            <a:ext cx="748427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cap="none" spc="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Key Performance Metrics</a:t>
            </a:r>
            <a:endParaRPr lang="en-US" sz="36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24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1909" y="1060619"/>
            <a:ext cx="945737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en-US" sz="28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 sz="28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Title: Case Study: </a:t>
            </a:r>
            <a:r>
              <a:rPr lang="en-US" sz="2800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Re-engaging "At-Risk" Clients Content</a:t>
            </a:r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</a:t>
            </a:r>
          </a:p>
          <a:p>
            <a:endParaRPr lang="en-US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endParaRPr lang="en-US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Issue</a:t>
            </a:r>
            <a:r>
              <a:rPr lang="en-US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 long-term client expressed frustration with lack of progress and signaled intent to cancel (churn).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Intervention: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Conducted a "Needs Analysis" to identify the specific gap in their learning path.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Pivoted from general conversation to a structured, metric-based curriculum.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Provided offline resources (PDFs/Articles) to add value between sessions.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Outcome: Client renewed for an additional 6-month cycle and referred 2 new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2161309" y="814647"/>
            <a:ext cx="12422680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                              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 </a:t>
            </a:r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36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Churn </a:t>
            </a:r>
            <a:r>
              <a:rPr lang="en-US" sz="3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Prevention Scenario</a:t>
            </a:r>
          </a:p>
          <a:p>
            <a:pPr algn="ctr"/>
            <a:endParaRPr lang="en-US" sz="5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40437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38356" y="689648"/>
            <a:ext cx="912449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Valuation Proposition</a:t>
            </a:r>
            <a:endParaRPr lang="en-US" sz="36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69675" y="2053087"/>
            <a:ext cx="924751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Title: </a:t>
            </a:r>
            <a:r>
              <a:rPr lang="en-US" sz="28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Transferable Value to [Company Name] </a:t>
            </a:r>
          </a:p>
          <a:p>
            <a:r>
              <a:rPr lang="en-US" sz="28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Content: </a:t>
            </a:r>
            <a:r>
              <a:rPr lang="en-US" sz="28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background in high-volume education translates directly to Customer Success and GRC: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Teaching to Onboarding:</a:t>
            </a:r>
            <a:r>
              <a:rPr lang="en-US" sz="24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know how to explain complex products to non-technical users.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Grading to Reporting: </a:t>
            </a:r>
            <a:r>
              <a:rPr lang="en-US" sz="24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am disciplined in documenting interactions and tracking progress (Incident Reports/Logs).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Freelancing to Ownership: </a:t>
            </a:r>
            <a:r>
              <a:rPr lang="en-US" sz="2400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possess "Operational Autonomy"—I don't need to be micromanaged to hit my targets.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61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08" y="1070956"/>
            <a:ext cx="2160000" cy="2160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868" y="1070956"/>
            <a:ext cx="2160000" cy="2160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538" y="1070956"/>
            <a:ext cx="2160000" cy="216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08" y="3394402"/>
            <a:ext cx="2160000" cy="2160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538" y="3394402"/>
            <a:ext cx="2160000" cy="216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4208" y="5717848"/>
            <a:ext cx="101747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These 4 accounts represent a wider portfolio of 5,600+ users, demonstrating a consistent ability to retain business across diverse demographics and time zones</a:t>
            </a:r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077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437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Title: High-Volume Client Retention Strategy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Katlego Matlabe- Customer Success &amp; Retention Specialist</dc:title>
  <dc:creator>Micky</dc:creator>
  <cp:lastModifiedBy>Micky</cp:lastModifiedBy>
  <cp:revision>13</cp:revision>
  <dcterms:created xsi:type="dcterms:W3CDTF">2026-01-12T06:41:50Z</dcterms:created>
  <dcterms:modified xsi:type="dcterms:W3CDTF">2026-01-13T05:43:46Z</dcterms:modified>
</cp:coreProperties>
</file>